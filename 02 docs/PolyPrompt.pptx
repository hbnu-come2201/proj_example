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59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>
        <p:scale>
          <a:sx n="125" d="100"/>
          <a:sy n="125" d="100"/>
        </p:scale>
        <p:origin x="1512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77F6A0-BD1E-44D8-A0D1-02037D6E2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ABC44F-870B-46F5-A045-C2E95DC8CB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1BA328-07D8-4784-8278-D4D1429F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91C3A-902A-4FD3-BF7F-F0A92D8249B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7EF4F7-339C-4C4A-AE29-61910370C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0840AC-E17C-4016-8FCF-F7CD9B39F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EA8D5-2053-4A70-9C09-B2CFC01AB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36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F1A88F-4A62-4DC4-80F6-B01B2CF5E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8993DF-611D-4068-A1D2-E48D2F672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EACFD3-68A7-475D-A963-3B9FC62DE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91C3A-902A-4FD3-BF7F-F0A92D8249B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B4B0A0-C32E-46CD-977B-0BE5191C3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7EBD4F-44F5-4961-87BD-B0A402FE2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EA8D5-2053-4A70-9C09-B2CFC01AB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7453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54918C-8854-459A-9C8D-EFB0919EE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28A21B-0689-42BA-831A-AF66E51E6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178201-A38B-4B50-BFFE-93318A476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91C3A-902A-4FD3-BF7F-F0A92D8249B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43ED46-042C-45CD-9434-695543BB5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D9C45D-9A0C-47EF-88D7-43AA4E6F2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EA8D5-2053-4A70-9C09-B2CFC01AB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51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FF01AD-3E44-4E49-91F7-89E349424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B332B5-4C53-40E0-9A9F-771FDF598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6AFDA9-2F80-4370-ACD7-BD2F858B8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74F211-27E5-44E2-8775-F8EFB167D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91C3A-902A-4FD3-BF7F-F0A92D8249B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812A4D-0C54-4586-B2B8-DF6C1D64F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E743CA-0B46-4251-B9BC-2CF447EAC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EA8D5-2053-4A70-9C09-B2CFC01AB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675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28B45-1DC0-460B-8FE6-6561AC6C7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18B57F-B16D-4368-9D86-7CB9D3A44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E11E9E-8766-4BED-82F5-82BB06CA4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39A67D8-3B63-404A-ADE5-1033AF18F6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67F454-D5C1-494A-96EB-4FDD21DB3A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848EE77-5626-4500-9F91-14A729060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91C3A-902A-4FD3-BF7F-F0A92D8249B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FDB2B80-1397-4480-9DF8-125298EA3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F8DA37E-7FA0-41D4-B40A-7941C53DD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EA8D5-2053-4A70-9C09-B2CFC01AB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138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7DD02-CED5-4379-99AF-91FD45569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351931-BF17-4BAE-B878-B6A6279D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91C3A-902A-4FD3-BF7F-F0A92D8249B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6CB36BA-72AE-4F03-B5DF-62B4C6F89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D264D1-8E98-4075-98B4-B866BF707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EA8D5-2053-4A70-9C09-B2CFC01AB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216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BE6E34-6DC4-497D-8B86-D3389E87C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91C3A-902A-4FD3-BF7F-F0A92D8249B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2DD42DB-D80C-47A5-863A-D90EB955F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308EF-87D3-4C3A-A3D5-A4710AFC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EA8D5-2053-4A70-9C09-B2CFC01AB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456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5014B2-5AEE-402C-8F66-6738F16A3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35A76C-6B0A-47FC-8BBA-869574C27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17569E-F57F-4883-9F6C-64AE830D6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787A06-32C1-4351-871A-32FD7BCDA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91C3A-902A-4FD3-BF7F-F0A92D8249B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D7615F-4CF1-466C-86FD-831BE77D5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47B1C9-E39D-4500-9278-D590A5F4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EA8D5-2053-4A70-9C09-B2CFC01AB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180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CFE130-5387-4784-B3AF-CC38144E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E9C742D-614D-4F90-9644-A895425152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DE99EF-0800-41DA-BC3B-0703B626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730665-4D69-43C2-B940-4350531D7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91C3A-902A-4FD3-BF7F-F0A92D8249B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332828-EA52-436B-BDC1-3EC00447C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656EEF-9A27-4E88-BA30-EDC44E39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EA8D5-2053-4A70-9C09-B2CFC01AB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35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8C383-0CB9-4A90-82E5-D109C3876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B92AF8-8175-4D50-B347-88A45BC3D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E47606-E473-464A-924B-8812A8101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91C3A-902A-4FD3-BF7F-F0A92D8249B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CEB8E9-E4C0-4694-82D1-53D92D3EF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98A339-4D23-4192-AA8D-7F337494A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EA8D5-2053-4A70-9C09-B2CFC01AB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611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4B29936-F189-4C13-912E-DAC4059529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6DBED4-F8D3-479D-AEE5-A0A6BAAB2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C68055-0FB7-4F04-A6E8-49A4C4E17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91C3A-902A-4FD3-BF7F-F0A92D8249B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491F8-5DED-4EBB-AE72-574226188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4DC82E-9410-4306-A386-5FFF8C4FE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EA8D5-2053-4A70-9C09-B2CFC01AB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611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775A027-BA25-4602-97E9-8FCE542D6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7910FE-4398-4EEF-BF57-1383AC387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496E22-D5DB-4B1F-AFE5-EAA5FEBA35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91C3A-902A-4FD3-BF7F-F0A92D8249B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3D52D9-F106-414D-86EC-A97C77EE4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B8AD19-CD31-4600-A75B-E70F789AD3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0EA8D5-2053-4A70-9C09-B2CFC01ABE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223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B7BF8E-C3CA-4CB5-8ADD-3DEFC2C924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PolyPrompt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CBAB7C-3332-4752-8544-B6B97E44A2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20211001 </a:t>
            </a:r>
            <a:r>
              <a:rPr lang="en-US" altLang="ko-KR" dirty="0" err="1"/>
              <a:t>Changbeom</a:t>
            </a:r>
            <a:r>
              <a:rPr lang="en-US" altLang="ko-KR" dirty="0"/>
              <a:t> Choi</a:t>
            </a:r>
          </a:p>
          <a:p>
            <a:r>
              <a:rPr lang="en-US" altLang="ko-KR" dirty="0"/>
              <a:t>20211002 </a:t>
            </a:r>
            <a:r>
              <a:rPr lang="en-US" altLang="ko-KR" dirty="0" err="1"/>
              <a:t>Jin</a:t>
            </a:r>
            <a:r>
              <a:rPr lang="en-US" altLang="ko-KR" dirty="0"/>
              <a:t> </a:t>
            </a:r>
            <a:r>
              <a:rPr lang="en-US" altLang="ko-KR" dirty="0" err="1"/>
              <a:t>Eun</a:t>
            </a:r>
            <a:r>
              <a:rPr lang="en-US" altLang="ko-KR" dirty="0"/>
              <a:t> Kim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9706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007542-3932-43A6-AD1B-0F228C50E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설명 </a:t>
            </a:r>
            <a:r>
              <a:rPr lang="en-US" altLang="ko-KR" dirty="0"/>
              <a:t>(</a:t>
            </a:r>
            <a:r>
              <a:rPr lang="ko-KR" altLang="en-US" dirty="0"/>
              <a:t>다이어그램 추가 가능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4A9CD5-FC10-436E-B38E-40BB77D3E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600" dirty="0" err="1"/>
              <a:t>PolyPrompt</a:t>
            </a:r>
            <a:r>
              <a:rPr lang="ko-KR" altLang="en-US" sz="1600" dirty="0"/>
              <a:t>는 프롬프트를 불변</a:t>
            </a:r>
            <a:r>
              <a:rPr lang="en-US" altLang="ko-KR" sz="1600" dirty="0"/>
              <a:t>(immutable) </a:t>
            </a:r>
            <a:r>
              <a:rPr lang="ko-KR" altLang="en-US" sz="1600" dirty="0" err="1"/>
              <a:t>파이썬</a:t>
            </a:r>
            <a:r>
              <a:rPr lang="ko-KR" altLang="en-US" sz="1600" dirty="0"/>
              <a:t> 객체로 모델링하고</a:t>
            </a:r>
            <a:r>
              <a:rPr lang="en-US" altLang="ko-KR" sz="1600" dirty="0"/>
              <a:t>, YAML </a:t>
            </a:r>
            <a:r>
              <a:rPr lang="ko-KR" altLang="en-US" sz="1600" dirty="0"/>
              <a:t>기반 </a:t>
            </a:r>
            <a:r>
              <a:rPr lang="en-US" altLang="ko-KR" sz="1600" dirty="0"/>
              <a:t>Base/Derived </a:t>
            </a:r>
            <a:r>
              <a:rPr lang="ko-KR" altLang="en-US" sz="1600" dirty="0"/>
              <a:t>정의를 타입 검증 가능한 </a:t>
            </a:r>
            <a:r>
              <a:rPr lang="en-US" altLang="ko-KR" sz="1600" dirty="0"/>
              <a:t>Prompt </a:t>
            </a:r>
            <a:r>
              <a:rPr lang="ko-KR" altLang="en-US" sz="1600" dirty="0"/>
              <a:t>인스턴스로 컴파일하여 재사용성</a:t>
            </a:r>
            <a:r>
              <a:rPr lang="en-US" altLang="ko-KR" sz="1600" dirty="0"/>
              <a:t>, </a:t>
            </a:r>
            <a:r>
              <a:rPr lang="ko-KR" altLang="en-US" sz="1600" dirty="0"/>
              <a:t>전문화</a:t>
            </a:r>
            <a:r>
              <a:rPr lang="en-US" altLang="ko-KR" sz="1600" dirty="0"/>
              <a:t>, </a:t>
            </a:r>
            <a:r>
              <a:rPr lang="ko-KR" altLang="en-US" sz="1600" dirty="0"/>
              <a:t>거버넌스</a:t>
            </a:r>
            <a:r>
              <a:rPr lang="en-US" altLang="ko-KR" sz="1600" dirty="0"/>
              <a:t>, </a:t>
            </a:r>
            <a:r>
              <a:rPr lang="ko-KR" altLang="en-US" sz="1600" dirty="0"/>
              <a:t>테스트 가능성을 극대화하는 </a:t>
            </a:r>
            <a:r>
              <a:rPr lang="ko-KR" altLang="en-US" sz="1600" dirty="0" err="1"/>
              <a:t>프레임워크입니다</a:t>
            </a:r>
            <a:r>
              <a:rPr lang="en-US" altLang="ko-KR" sz="1600" dirty="0"/>
              <a:t>. </a:t>
            </a:r>
          </a:p>
          <a:p>
            <a:r>
              <a:rPr lang="ko-KR" altLang="en-US" sz="1600" dirty="0"/>
              <a:t>캡슐화</a:t>
            </a:r>
            <a:r>
              <a:rPr lang="en-US" altLang="ko-KR" sz="1600" dirty="0"/>
              <a:t>, </a:t>
            </a:r>
            <a:r>
              <a:rPr lang="ko-KR" altLang="en-US" sz="1600" dirty="0"/>
              <a:t>상속</a:t>
            </a:r>
            <a:r>
              <a:rPr lang="en-US" altLang="ko-KR" sz="1600" dirty="0"/>
              <a:t>, </a:t>
            </a:r>
            <a:r>
              <a:rPr lang="ko-KR" altLang="en-US" sz="1600" dirty="0"/>
              <a:t>합성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다형성</a:t>
            </a:r>
            <a:r>
              <a:rPr lang="ko-KR" altLang="en-US" sz="1600" dirty="0"/>
              <a:t> 등 객체지향 원칙을 적용해 연구</a:t>
            </a:r>
            <a:r>
              <a:rPr lang="en-US" altLang="ko-KR" sz="1600" dirty="0"/>
              <a:t>, </a:t>
            </a:r>
            <a:r>
              <a:rPr lang="ko-KR" altLang="en-US" sz="1600" dirty="0"/>
              <a:t>산업 환경에서 일관된 프롬프트 운영을 지원합니다</a:t>
            </a:r>
            <a:r>
              <a:rPr lang="en-US" altLang="ko-KR" sz="1600" dirty="0"/>
              <a:t>. </a:t>
            </a:r>
            <a:r>
              <a:rPr lang="ko-KR" altLang="en-US" sz="1600" dirty="0"/>
              <a:t>본 프로젝트는 소프트웨어설계 수업의 예시 프로젝트로 </a:t>
            </a:r>
            <a:r>
              <a:rPr lang="en-US" altLang="ko-KR" sz="1600" dirty="0"/>
              <a:t>before </a:t>
            </a:r>
            <a:r>
              <a:rPr lang="ko-KR" altLang="en-US" sz="1600" dirty="0" err="1"/>
              <a:t>브랜치는</a:t>
            </a:r>
            <a:r>
              <a:rPr lang="ko-KR" altLang="en-US" sz="1600" dirty="0"/>
              <a:t> 소프트웨어 디자인 패턴이 적용되지 않은 프로젝트에 대한 내용을 담고 있으며 </a:t>
            </a:r>
            <a:r>
              <a:rPr lang="en-US" altLang="ko-KR" sz="1600" dirty="0"/>
              <a:t>after </a:t>
            </a:r>
            <a:r>
              <a:rPr lang="ko-KR" altLang="en-US" sz="1600" dirty="0" err="1"/>
              <a:t>브랜치는</a:t>
            </a:r>
            <a:r>
              <a:rPr lang="ko-KR" altLang="en-US" sz="1600" dirty="0"/>
              <a:t> 소프트웨어 디자인 패턴이 적용되지 않은 프로젝트에서 </a:t>
            </a:r>
            <a:r>
              <a:rPr lang="ko-KR" altLang="en-US" sz="1600" dirty="0" err="1"/>
              <a:t>리팩토링을</a:t>
            </a:r>
            <a:r>
              <a:rPr lang="ko-KR" altLang="en-US" sz="1600" dirty="0"/>
              <a:t> 통하여 개선된 프로젝트를 담고 있습니다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1B123A-8EC8-4456-8412-A63A7757506B}"/>
              </a:ext>
            </a:extLst>
          </p:cNvPr>
          <p:cNvSpPr/>
          <p:nvPr/>
        </p:nvSpPr>
        <p:spPr>
          <a:xfrm>
            <a:off x="4944825" y="3961745"/>
            <a:ext cx="2028948" cy="5611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Base Prompt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ABD392A-A57C-459D-8777-C872DAB941D1}"/>
              </a:ext>
            </a:extLst>
          </p:cNvPr>
          <p:cNvSpPr/>
          <p:nvPr/>
        </p:nvSpPr>
        <p:spPr>
          <a:xfrm>
            <a:off x="4944825" y="5331383"/>
            <a:ext cx="2028948" cy="5611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Extended Prompt</a:t>
            </a:r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5877674-0F86-49C7-9D35-48AA8F93A50D}"/>
              </a:ext>
            </a:extLst>
          </p:cNvPr>
          <p:cNvCxnSpPr>
            <a:stCxn id="6" idx="0"/>
            <a:endCxn id="5" idx="2"/>
          </p:cNvCxnSpPr>
          <p:nvPr/>
        </p:nvCxnSpPr>
        <p:spPr>
          <a:xfrm flipV="1">
            <a:off x="5959299" y="4522944"/>
            <a:ext cx="0" cy="80843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309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4CFF96-2C53-4C15-B8F2-5A296859A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요구사항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41F43B-4627-411C-986D-1B9409E61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/>
              <a:t>범위 및 목표</a:t>
            </a:r>
            <a:endParaRPr lang="en-US" altLang="ko-KR" sz="1800" b="1" dirty="0"/>
          </a:p>
          <a:p>
            <a:pPr lvl="1"/>
            <a:r>
              <a:rPr lang="ko-KR" altLang="en-US" sz="1600" dirty="0"/>
              <a:t>목표</a:t>
            </a:r>
            <a:r>
              <a:rPr lang="en-US" altLang="ko-KR" sz="1600" dirty="0"/>
              <a:t>: “Prompt as Python object” </a:t>
            </a:r>
            <a:r>
              <a:rPr lang="ko-KR" altLang="en-US" sz="1600" dirty="0"/>
              <a:t>원칙에 따라</a:t>
            </a:r>
            <a:r>
              <a:rPr lang="en-US" altLang="ko-KR" sz="1600" dirty="0"/>
              <a:t>, YAML(Base/Derived) </a:t>
            </a:r>
            <a:r>
              <a:rPr lang="ko-KR" altLang="en-US" sz="1600" dirty="0"/>
              <a:t>로 선언된 프롬프트를 불변</a:t>
            </a:r>
            <a:r>
              <a:rPr lang="en-US" altLang="ko-KR" sz="1600" dirty="0"/>
              <a:t>(immutable) Python </a:t>
            </a:r>
            <a:r>
              <a:rPr lang="ko-KR" altLang="en-US" sz="1600" dirty="0"/>
              <a:t>객체로 컴파일하고</a:t>
            </a:r>
            <a:r>
              <a:rPr lang="en-US" altLang="ko-KR" sz="1600" dirty="0"/>
              <a:t>, </a:t>
            </a:r>
            <a:r>
              <a:rPr lang="ko-KR" altLang="en-US" sz="1600" dirty="0"/>
              <a:t>타입 검증</a:t>
            </a:r>
            <a:r>
              <a:rPr lang="en-US" altLang="ko-KR" sz="1600" dirty="0"/>
              <a:t>·</a:t>
            </a:r>
            <a:r>
              <a:rPr lang="ko-KR" altLang="en-US" sz="1600" dirty="0"/>
              <a:t>상속</a:t>
            </a:r>
            <a:r>
              <a:rPr lang="en-US" altLang="ko-KR" sz="1600" dirty="0"/>
              <a:t>/</a:t>
            </a:r>
            <a:r>
              <a:rPr lang="ko-KR" altLang="en-US" sz="1600" dirty="0" err="1"/>
              <a:t>오버라이드</a:t>
            </a:r>
            <a:r>
              <a:rPr lang="en-US" altLang="ko-KR" sz="1600" dirty="0"/>
              <a:t>·</a:t>
            </a:r>
            <a:r>
              <a:rPr lang="ko-KR" altLang="en-US" sz="1600" dirty="0"/>
              <a:t>테스트를 지원하는 프레임워크 제공</a:t>
            </a:r>
            <a:endParaRPr lang="en-US" altLang="ko-KR" sz="1600" dirty="0"/>
          </a:p>
          <a:p>
            <a:pPr lvl="1"/>
            <a:r>
              <a:rPr lang="ko-KR" altLang="en-US" sz="1600" dirty="0"/>
              <a:t>사용자 집단</a:t>
            </a:r>
            <a:r>
              <a:rPr lang="en-US" altLang="ko-KR" sz="1600" dirty="0"/>
              <a:t>: </a:t>
            </a:r>
            <a:r>
              <a:rPr lang="ko-KR" altLang="en-US" sz="1600" dirty="0"/>
              <a:t>연구개발 엔지니어</a:t>
            </a:r>
            <a:r>
              <a:rPr lang="en-US" altLang="ko-KR" sz="1600" dirty="0"/>
              <a:t>, </a:t>
            </a:r>
            <a:r>
              <a:rPr lang="ko-KR" altLang="en-US" sz="1600" dirty="0"/>
              <a:t>데이터</a:t>
            </a:r>
            <a:r>
              <a:rPr lang="en-US" altLang="ko-KR" sz="1600" dirty="0"/>
              <a:t>/ML </a:t>
            </a:r>
            <a:r>
              <a:rPr lang="ko-KR" altLang="en-US" sz="1600" dirty="0"/>
              <a:t>엔지니어</a:t>
            </a:r>
            <a:r>
              <a:rPr lang="en-US" altLang="ko-KR" sz="1600" dirty="0"/>
              <a:t>, </a:t>
            </a:r>
            <a:r>
              <a:rPr lang="ko-KR" altLang="en-US" sz="1600" dirty="0"/>
              <a:t>강의</a:t>
            </a:r>
            <a:r>
              <a:rPr lang="en-US" altLang="ko-KR" sz="1600" dirty="0"/>
              <a:t>/</a:t>
            </a:r>
            <a:r>
              <a:rPr lang="ko-KR" altLang="en-US" sz="1600" dirty="0"/>
              <a:t>교육 운영자</a:t>
            </a:r>
            <a:endParaRPr lang="en-US" altLang="ko-KR" sz="1600" dirty="0"/>
          </a:p>
          <a:p>
            <a:pPr lvl="1"/>
            <a:r>
              <a:rPr lang="ko-KR" altLang="en-US" sz="1600" dirty="0" err="1"/>
              <a:t>비범위</a:t>
            </a:r>
            <a:r>
              <a:rPr lang="en-US" altLang="ko-KR" sz="1600" dirty="0"/>
              <a:t>(Out of scope): </a:t>
            </a:r>
            <a:r>
              <a:rPr lang="ko-KR" altLang="en-US" sz="1600" dirty="0"/>
              <a:t>클라우드 벤더 특정 </a:t>
            </a:r>
            <a:r>
              <a:rPr lang="en-US" altLang="ko-KR" sz="1600" dirty="0"/>
              <a:t>API </a:t>
            </a:r>
            <a:r>
              <a:rPr lang="ko-KR" altLang="en-US" sz="1600" dirty="0"/>
              <a:t>클라이언트 내장</a:t>
            </a:r>
            <a:r>
              <a:rPr lang="en-US" altLang="ko-KR" sz="1600" dirty="0"/>
              <a:t>, </a:t>
            </a:r>
            <a:r>
              <a:rPr lang="ko-KR" altLang="en-US" sz="1600" dirty="0"/>
              <a:t>프롬프트 자동 최적화</a:t>
            </a:r>
            <a:r>
              <a:rPr lang="en-US" altLang="ko-KR" sz="1600" dirty="0"/>
              <a:t>/</a:t>
            </a:r>
            <a:r>
              <a:rPr lang="ko-KR" altLang="en-US" sz="1600" dirty="0"/>
              <a:t>튜닝</a:t>
            </a:r>
            <a:r>
              <a:rPr lang="en-US" altLang="ko-KR" sz="1600" dirty="0"/>
              <a:t>, </a:t>
            </a:r>
            <a:r>
              <a:rPr lang="ko-KR" altLang="en-US" sz="1600" dirty="0"/>
              <a:t>모델 성능 평가</a:t>
            </a:r>
            <a:r>
              <a:rPr lang="en-US" altLang="ko-KR" sz="1600" dirty="0"/>
              <a:t>/</a:t>
            </a:r>
            <a:r>
              <a:rPr lang="ko-KR" altLang="en-US" sz="1600" dirty="0"/>
              <a:t>랭킹</a:t>
            </a:r>
            <a:endParaRPr lang="en-US" altLang="ko-KR" sz="1600" dirty="0"/>
          </a:p>
          <a:p>
            <a:r>
              <a:rPr lang="en-US" altLang="ko-KR" sz="1800" b="1" dirty="0"/>
              <a:t>YAML </a:t>
            </a:r>
            <a:r>
              <a:rPr lang="ko-KR" altLang="en-US" sz="1800" b="1" dirty="0"/>
              <a:t>사양 및 로딩</a:t>
            </a:r>
            <a:endParaRPr lang="en-US" altLang="ko-KR" sz="1800" b="1" dirty="0"/>
          </a:p>
          <a:p>
            <a:pPr lvl="1"/>
            <a:r>
              <a:rPr lang="en-US" altLang="ko-KR" sz="1400" dirty="0"/>
              <a:t>REQ-FR-001 (Must): prompts/ </a:t>
            </a:r>
            <a:r>
              <a:rPr lang="ko-KR" altLang="en-US" sz="1400" dirty="0"/>
              <a:t>폴더의 *</a:t>
            </a:r>
            <a:r>
              <a:rPr lang="en-US" altLang="ko-KR" sz="1400" dirty="0"/>
              <a:t>.</a:t>
            </a:r>
            <a:r>
              <a:rPr lang="en-US" altLang="ko-KR" sz="1400" dirty="0" err="1"/>
              <a:t>yaml</a:t>
            </a:r>
            <a:r>
              <a:rPr lang="en-US" altLang="ko-KR" sz="1400" dirty="0"/>
              <a:t> </a:t>
            </a:r>
            <a:r>
              <a:rPr lang="ko-KR" altLang="en-US" sz="1400" dirty="0"/>
              <a:t>파일을 모두 </a:t>
            </a:r>
            <a:r>
              <a:rPr lang="ko-KR" altLang="en-US" sz="1400" dirty="0" err="1"/>
              <a:t>로딩하고</a:t>
            </a:r>
            <a:r>
              <a:rPr lang="ko-KR" altLang="en-US" sz="1400" dirty="0"/>
              <a:t> </a:t>
            </a:r>
            <a:r>
              <a:rPr lang="en-US" altLang="ko-KR" sz="1400" dirty="0"/>
              <a:t>type ∈ {base, derived} </a:t>
            </a:r>
            <a:r>
              <a:rPr lang="ko-KR" altLang="en-US" sz="1400" dirty="0"/>
              <a:t>를 판별한다</a:t>
            </a:r>
            <a:r>
              <a:rPr lang="en-US" altLang="ko-KR" sz="1400" dirty="0"/>
              <a:t>.</a:t>
            </a:r>
          </a:p>
          <a:p>
            <a:pPr lvl="1"/>
            <a:r>
              <a:rPr lang="en-US" altLang="ko-KR" sz="1400" dirty="0"/>
              <a:t>REQ-FR-002 (Must): Base</a:t>
            </a:r>
            <a:r>
              <a:rPr lang="ko-KR" altLang="en-US" sz="1400" dirty="0"/>
              <a:t>는 </a:t>
            </a:r>
            <a:r>
              <a:rPr lang="en-US" altLang="ko-KR" sz="1400" dirty="0"/>
              <a:t>name, description, variables, sections, output </a:t>
            </a:r>
            <a:r>
              <a:rPr lang="ko-KR" altLang="en-US" sz="1400" dirty="0"/>
              <a:t>필드를 가져야 한다</a:t>
            </a:r>
            <a:r>
              <a:rPr lang="en-US" altLang="ko-KR" sz="1400" dirty="0"/>
              <a:t>.</a:t>
            </a:r>
          </a:p>
          <a:p>
            <a:pPr lvl="1"/>
            <a:r>
              <a:rPr lang="en-US" altLang="ko-KR" sz="1400" dirty="0"/>
              <a:t>REQ-FR-003 (Must): Derived</a:t>
            </a:r>
            <a:r>
              <a:rPr lang="ko-KR" altLang="en-US" sz="1400" dirty="0"/>
              <a:t>는 </a:t>
            </a:r>
            <a:r>
              <a:rPr lang="en-US" altLang="ko-KR" sz="1400" dirty="0"/>
              <a:t>name, base </a:t>
            </a:r>
            <a:r>
              <a:rPr lang="ko-KR" altLang="en-US" sz="1400" dirty="0"/>
              <a:t>필드를 가져야 하고</a:t>
            </a:r>
            <a:r>
              <a:rPr lang="en-US" altLang="ko-KR" sz="1400" dirty="0"/>
              <a:t>, </a:t>
            </a:r>
            <a:r>
              <a:rPr lang="ko-KR" altLang="en-US" sz="1400" dirty="0"/>
              <a:t>선택적으로 </a:t>
            </a:r>
            <a:r>
              <a:rPr lang="en-US" altLang="ko-KR" sz="1400" dirty="0"/>
              <a:t>description, variables, overrides </a:t>
            </a:r>
            <a:r>
              <a:rPr lang="ko-KR" altLang="en-US" sz="1400" dirty="0"/>
              <a:t>를 가질 수 있다</a:t>
            </a:r>
            <a:r>
              <a:rPr lang="en-US" altLang="ko-KR" sz="1400" dirty="0"/>
              <a:t>.</a:t>
            </a:r>
          </a:p>
          <a:p>
            <a:pPr lvl="1"/>
            <a:r>
              <a:rPr lang="en-US" altLang="ko-KR" sz="1400" dirty="0"/>
              <a:t>REQ-FR-004 (Must): Derived → Base </a:t>
            </a:r>
            <a:r>
              <a:rPr lang="ko-KR" altLang="en-US" sz="1400" dirty="0"/>
              <a:t>상속을 단일 단계로 우선 지원한다</a:t>
            </a:r>
            <a:r>
              <a:rPr lang="en-US" altLang="ko-KR" sz="1400" dirty="0"/>
              <a:t>(derived-of-derived</a:t>
            </a:r>
            <a:r>
              <a:rPr lang="ko-KR" altLang="en-US" sz="1400" dirty="0"/>
              <a:t>는 초기 버전에서 </a:t>
            </a:r>
            <a:r>
              <a:rPr lang="ko-KR" altLang="en-US" sz="1400" dirty="0" err="1"/>
              <a:t>비권장</a:t>
            </a:r>
            <a:r>
              <a:rPr lang="en-US" altLang="ko-KR" sz="1400" dirty="0"/>
              <a:t>/</a:t>
            </a:r>
            <a:r>
              <a:rPr lang="ko-KR" altLang="en-US" sz="1400" dirty="0" err="1"/>
              <a:t>미지원</a:t>
            </a:r>
            <a:r>
              <a:rPr lang="en-US" altLang="ko-KR" sz="1400" dirty="0"/>
              <a:t>; </a:t>
            </a:r>
            <a:r>
              <a:rPr lang="ko-KR" altLang="en-US" sz="1400" dirty="0"/>
              <a:t>추후 확장</a:t>
            </a:r>
            <a:r>
              <a:rPr lang="en-US" altLang="ko-KR" sz="1400" dirty="0"/>
              <a:t>).</a:t>
            </a:r>
          </a:p>
          <a:p>
            <a:pPr lvl="1"/>
            <a:r>
              <a:rPr lang="en-US" altLang="ko-KR" sz="1400" dirty="0"/>
              <a:t>REQ-FR-005 (Must): </a:t>
            </a:r>
            <a:r>
              <a:rPr lang="en-US" altLang="ko-KR" sz="1400" dirty="0" err="1"/>
              <a:t>sections.system</a:t>
            </a:r>
            <a:r>
              <a:rPr lang="en-US" altLang="ko-KR" sz="1400" dirty="0"/>
              <a:t>/</a:t>
            </a:r>
            <a:r>
              <a:rPr lang="en-US" altLang="ko-KR" sz="1400" dirty="0" err="1"/>
              <a:t>sections.instruction</a:t>
            </a:r>
            <a:r>
              <a:rPr lang="ko-KR" altLang="en-US" sz="1400" dirty="0"/>
              <a:t>은 교체</a:t>
            </a:r>
            <a:r>
              <a:rPr lang="en-US" altLang="ko-KR" sz="1400" dirty="0"/>
              <a:t>(replace), </a:t>
            </a:r>
            <a:r>
              <a:rPr lang="en-US" altLang="ko-KR" sz="1400" dirty="0" err="1"/>
              <a:t>sections.constraints</a:t>
            </a:r>
            <a:r>
              <a:rPr lang="en-US" altLang="ko-KR" sz="1400" dirty="0"/>
              <a:t>/examples</a:t>
            </a:r>
            <a:r>
              <a:rPr lang="ko-KR" altLang="en-US" sz="1400" dirty="0"/>
              <a:t>는 </a:t>
            </a:r>
            <a:r>
              <a:rPr lang="en-US" altLang="ko-KR" sz="1400" dirty="0"/>
              <a:t>replace/append/remove</a:t>
            </a:r>
            <a:r>
              <a:rPr lang="ko-KR" altLang="en-US" sz="1400" dirty="0"/>
              <a:t>를 지원한다</a:t>
            </a:r>
            <a:r>
              <a:rPr lang="en-US" altLang="ko-KR" sz="1400" dirty="0"/>
              <a:t>.</a:t>
            </a:r>
          </a:p>
          <a:p>
            <a:pPr lvl="1"/>
            <a:r>
              <a:rPr lang="en-US" altLang="ko-KR" sz="1400" dirty="0"/>
              <a:t>REQ-FR-006 (Must): variables</a:t>
            </a:r>
            <a:r>
              <a:rPr lang="ko-KR" altLang="en-US" sz="1400" dirty="0"/>
              <a:t>는 </a:t>
            </a:r>
            <a:r>
              <a:rPr lang="ko-KR" altLang="en-US" sz="1400" dirty="0" err="1"/>
              <a:t>이름별</a:t>
            </a:r>
            <a:r>
              <a:rPr lang="ko-KR" altLang="en-US" sz="1400" dirty="0"/>
              <a:t> 스칼라 타입</a:t>
            </a:r>
            <a:r>
              <a:rPr lang="en-US" altLang="ko-KR" sz="1400" dirty="0"/>
              <a:t>(string/int/float/bool) </a:t>
            </a:r>
            <a:r>
              <a:rPr lang="ko-KR" altLang="en-US" sz="1400" dirty="0"/>
              <a:t>및 제약</a:t>
            </a:r>
            <a:r>
              <a:rPr lang="en-US" altLang="ko-KR" sz="1400" dirty="0"/>
              <a:t>(required, </a:t>
            </a:r>
            <a:r>
              <a:rPr lang="en-US" altLang="ko-KR" sz="1400" dirty="0" err="1"/>
              <a:t>min_length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max_length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ge</a:t>
            </a:r>
            <a:r>
              <a:rPr lang="en-US" altLang="ko-KR" sz="1400" dirty="0"/>
              <a:t>, le)</a:t>
            </a:r>
            <a:r>
              <a:rPr lang="ko-KR" altLang="en-US" sz="1400" dirty="0"/>
              <a:t>을 지원한다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82416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45762B-CF5A-4C13-B66F-D93659BDC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기능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841474-B716-4986-9D76-C927CDFDC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/>
              <a:t>Prompt: </a:t>
            </a:r>
            <a:r>
              <a:rPr lang="ko-KR" altLang="en-US" sz="1800" dirty="0"/>
              <a:t>불변</a:t>
            </a:r>
            <a:r>
              <a:rPr lang="en-US" altLang="ko-KR" sz="1800" dirty="0"/>
              <a:t>(immutable) </a:t>
            </a:r>
            <a:r>
              <a:rPr lang="ko-KR" altLang="en-US" sz="1800" dirty="0"/>
              <a:t>객체</a:t>
            </a:r>
            <a:endParaRPr lang="en-US" altLang="ko-KR" sz="1800" dirty="0"/>
          </a:p>
          <a:p>
            <a:pPr lvl="1"/>
            <a:r>
              <a:rPr lang="ko-KR" altLang="en-US" sz="1600" dirty="0"/>
              <a:t>구성요소</a:t>
            </a:r>
            <a:r>
              <a:rPr lang="en-US" altLang="ko-KR" sz="1600" dirty="0"/>
              <a:t>: name, version, sections, </a:t>
            </a:r>
            <a:r>
              <a:rPr lang="en-US" altLang="ko-KR" sz="1600" dirty="0" err="1"/>
              <a:t>slot_schema</a:t>
            </a:r>
            <a:r>
              <a:rPr lang="en-US" altLang="ko-KR" sz="1600" dirty="0"/>
              <a:t>, parser(</a:t>
            </a:r>
            <a:r>
              <a:rPr lang="ko-KR" altLang="en-US" sz="1600" dirty="0"/>
              <a:t>선택</a:t>
            </a:r>
            <a:r>
              <a:rPr lang="en-US" altLang="ko-KR" sz="1600" dirty="0"/>
              <a:t>)</a:t>
            </a:r>
          </a:p>
          <a:p>
            <a:pPr lvl="1"/>
            <a:r>
              <a:rPr lang="ko-KR" altLang="en-US" sz="1600" dirty="0"/>
              <a:t>메서드</a:t>
            </a:r>
            <a:r>
              <a:rPr lang="en-US" altLang="ko-KR" sz="1600" dirty="0"/>
              <a:t>: render(**slots), infer(</a:t>
            </a:r>
            <a:r>
              <a:rPr lang="en-US" altLang="ko-KR" sz="1600" dirty="0" err="1"/>
              <a:t>inferencer</a:t>
            </a:r>
            <a:r>
              <a:rPr lang="en-US" altLang="ko-KR" sz="1600" dirty="0"/>
              <a:t>, **slots)</a:t>
            </a:r>
          </a:p>
          <a:p>
            <a:r>
              <a:rPr lang="en-US" altLang="ko-KR" sz="1800" dirty="0"/>
              <a:t>Section: </a:t>
            </a:r>
            <a:r>
              <a:rPr lang="ko-KR" altLang="en-US" sz="1800" dirty="0"/>
              <a:t>렌더링 가능한 최소 단위</a:t>
            </a:r>
            <a:r>
              <a:rPr lang="en-US" altLang="ko-KR" sz="1800" dirty="0"/>
              <a:t>(Composite </a:t>
            </a:r>
            <a:r>
              <a:rPr lang="ko-KR" altLang="en-US" sz="1800" dirty="0"/>
              <a:t>패턴</a:t>
            </a:r>
            <a:r>
              <a:rPr lang="en-US" altLang="ko-KR" sz="1800" dirty="0"/>
              <a:t>)</a:t>
            </a:r>
          </a:p>
          <a:p>
            <a:pPr lvl="1"/>
            <a:r>
              <a:rPr lang="ko-KR" altLang="en-US" sz="1600" dirty="0"/>
              <a:t>제공 타입</a:t>
            </a:r>
            <a:r>
              <a:rPr lang="en-US" altLang="ko-KR" sz="1600" dirty="0"/>
              <a:t>: </a:t>
            </a:r>
            <a:r>
              <a:rPr lang="en-US" altLang="ko-KR" sz="1600" dirty="0" err="1"/>
              <a:t>SystemSection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InstructionSection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ConstraintSection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ExampleSection</a:t>
            </a:r>
            <a:endParaRPr lang="en-US" altLang="ko-KR" sz="1600" dirty="0"/>
          </a:p>
          <a:p>
            <a:pPr lvl="1"/>
            <a:r>
              <a:rPr lang="ko-KR" altLang="en-US" sz="1600" dirty="0"/>
              <a:t>목적</a:t>
            </a:r>
            <a:r>
              <a:rPr lang="en-US" altLang="ko-KR" sz="1600" dirty="0"/>
              <a:t>: </a:t>
            </a:r>
            <a:r>
              <a:rPr lang="ko-KR" altLang="en-US" sz="1600" dirty="0"/>
              <a:t>문체</a:t>
            </a:r>
            <a:r>
              <a:rPr lang="en-US" altLang="ko-KR" sz="1600" dirty="0"/>
              <a:t>/</a:t>
            </a:r>
            <a:r>
              <a:rPr lang="ko-KR" altLang="en-US" sz="1600" dirty="0"/>
              <a:t>규칙</a:t>
            </a:r>
            <a:r>
              <a:rPr lang="en-US" altLang="ko-KR" sz="1600" dirty="0"/>
              <a:t>/</a:t>
            </a:r>
            <a:r>
              <a:rPr lang="ko-KR" altLang="en-US" sz="1600" dirty="0"/>
              <a:t>예시를 </a:t>
            </a:r>
            <a:r>
              <a:rPr lang="ko-KR" altLang="en-US" sz="1600" dirty="0" err="1"/>
              <a:t>모듈화하여</a:t>
            </a:r>
            <a:r>
              <a:rPr lang="ko-KR" altLang="en-US" sz="1600" dirty="0"/>
              <a:t> 재사용성</a:t>
            </a:r>
            <a:r>
              <a:rPr lang="en-US" altLang="ko-KR" sz="1600" dirty="0"/>
              <a:t>·</a:t>
            </a:r>
            <a:r>
              <a:rPr lang="ko-KR" altLang="en-US" sz="1600" dirty="0"/>
              <a:t>가독성 향상</a:t>
            </a:r>
            <a:endParaRPr lang="en-US" altLang="ko-KR" sz="1600" dirty="0"/>
          </a:p>
          <a:p>
            <a:r>
              <a:rPr lang="en-US" altLang="ko-KR" sz="1800" dirty="0" err="1"/>
              <a:t>SlotSchema</a:t>
            </a:r>
            <a:endParaRPr lang="en-US" altLang="ko-KR" sz="1800" dirty="0"/>
          </a:p>
          <a:p>
            <a:pPr lvl="1"/>
            <a:r>
              <a:rPr lang="en-US" altLang="ko-KR" sz="1600" dirty="0" err="1"/>
              <a:t>Pydantic</a:t>
            </a:r>
            <a:r>
              <a:rPr lang="en-US" altLang="ko-KR" sz="1600" dirty="0"/>
              <a:t> </a:t>
            </a:r>
            <a:r>
              <a:rPr lang="ko-KR" altLang="en-US" sz="1600" dirty="0"/>
              <a:t>기반 슬롯 타입</a:t>
            </a:r>
            <a:r>
              <a:rPr lang="en-US" altLang="ko-KR" sz="1600" dirty="0"/>
              <a:t>·</a:t>
            </a:r>
            <a:r>
              <a:rPr lang="ko-KR" altLang="en-US" sz="1600" dirty="0"/>
              <a:t>범위 검증 모델</a:t>
            </a:r>
            <a:r>
              <a:rPr lang="en-US" altLang="ko-KR" sz="1600" dirty="0"/>
              <a:t>(</a:t>
            </a:r>
            <a:r>
              <a:rPr lang="ko-KR" altLang="en-US" sz="1600" dirty="0"/>
              <a:t>동적 생성</a:t>
            </a:r>
            <a:r>
              <a:rPr lang="en-US" altLang="ko-KR" sz="1600" dirty="0"/>
              <a:t>)</a:t>
            </a:r>
          </a:p>
          <a:p>
            <a:r>
              <a:rPr lang="en-US" altLang="ko-KR" sz="1800" dirty="0"/>
              <a:t>Strategy Interfaces</a:t>
            </a:r>
          </a:p>
          <a:p>
            <a:pPr lvl="1"/>
            <a:r>
              <a:rPr lang="en-US" altLang="ko-KR" sz="1600" dirty="0" err="1"/>
              <a:t>Inferencer</a:t>
            </a:r>
            <a:r>
              <a:rPr lang="en-US" altLang="ko-KR" sz="1600" dirty="0"/>
              <a:t>(</a:t>
            </a:r>
            <a:r>
              <a:rPr lang="ko-KR" altLang="en-US" sz="1600" dirty="0" err="1"/>
              <a:t>백엔드</a:t>
            </a:r>
            <a:r>
              <a:rPr lang="ko-KR" altLang="en-US" sz="1600" dirty="0"/>
              <a:t> 호출 추상화</a:t>
            </a:r>
            <a:r>
              <a:rPr lang="en-US" altLang="ko-KR" sz="1600" dirty="0"/>
              <a:t>), Parser(</a:t>
            </a:r>
            <a:r>
              <a:rPr lang="ko-KR" altLang="en-US" sz="1600" dirty="0"/>
              <a:t>출력 파싱</a:t>
            </a:r>
            <a:r>
              <a:rPr lang="en-US" altLang="ko-KR" sz="1600" dirty="0"/>
              <a:t>/</a:t>
            </a:r>
            <a:r>
              <a:rPr lang="ko-KR" altLang="en-US" sz="1600" dirty="0"/>
              <a:t>검증 추상화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774211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154830-BCD4-46E5-B1C4-2A8DF9A44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Before Branch </a:t>
            </a:r>
            <a:r>
              <a:rPr lang="ko-KR" altLang="en-US" dirty="0"/>
              <a:t>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F26F73-2D72-4685-A481-D95C26D6B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Before Branch</a:t>
            </a:r>
            <a:r>
              <a:rPr lang="ko-KR" altLang="en-US" dirty="0"/>
              <a:t>는 </a:t>
            </a:r>
            <a:r>
              <a:rPr lang="en-US" altLang="ko-KR" dirty="0"/>
              <a:t>High Coupling, Low Cohesion</a:t>
            </a:r>
            <a:r>
              <a:rPr lang="ko-KR" altLang="en-US" dirty="0"/>
              <a:t>으로 구성된 클래스로 구성되어 있음</a:t>
            </a:r>
            <a:endParaRPr lang="en-US" altLang="ko-KR" dirty="0"/>
          </a:p>
          <a:p>
            <a:pPr lvl="1"/>
            <a:r>
              <a:rPr lang="ko-KR" altLang="en-US" dirty="0"/>
              <a:t>가장 긴 클래스</a:t>
            </a:r>
            <a:endParaRPr lang="en-US" altLang="ko-KR" dirty="0"/>
          </a:p>
          <a:p>
            <a:pPr lvl="2"/>
            <a:r>
              <a:rPr lang="en-US" altLang="ko-KR" dirty="0" err="1"/>
              <a:t>PromptManager</a:t>
            </a:r>
            <a:r>
              <a:rPr lang="en-US" altLang="ko-KR" dirty="0"/>
              <a:t> – Line </a:t>
            </a:r>
            <a:r>
              <a:rPr lang="ko-KR" altLang="en-US" dirty="0"/>
              <a:t>수 </a:t>
            </a:r>
            <a:r>
              <a:rPr lang="en-US" altLang="ko-KR" dirty="0"/>
              <a:t>1521</a:t>
            </a:r>
            <a:r>
              <a:rPr lang="ko-KR" altLang="en-US" dirty="0"/>
              <a:t>줄</a:t>
            </a:r>
            <a:endParaRPr lang="en-US" altLang="ko-KR" dirty="0"/>
          </a:p>
          <a:p>
            <a:pPr lvl="3"/>
            <a:r>
              <a:rPr lang="en-US" altLang="ko-KR" dirty="0"/>
              <a:t>Prompt </a:t>
            </a:r>
            <a:r>
              <a:rPr lang="ko-KR" altLang="en-US" dirty="0"/>
              <a:t>생성 기능</a:t>
            </a:r>
            <a:endParaRPr lang="en-US" altLang="ko-KR" dirty="0"/>
          </a:p>
          <a:p>
            <a:pPr lvl="3"/>
            <a:r>
              <a:rPr lang="en-US" altLang="ko-KR" dirty="0"/>
              <a:t>Prompt</a:t>
            </a:r>
            <a:r>
              <a:rPr lang="ko-KR" altLang="en-US" dirty="0"/>
              <a:t> 수정 기능</a:t>
            </a:r>
            <a:endParaRPr lang="en-US" altLang="ko-KR" dirty="0"/>
          </a:p>
          <a:p>
            <a:pPr lvl="3"/>
            <a:r>
              <a:rPr lang="en-US" altLang="ko-KR" dirty="0"/>
              <a:t>Prompt </a:t>
            </a:r>
            <a:r>
              <a:rPr lang="ko-KR" altLang="en-US" dirty="0"/>
              <a:t>삭제 기능</a:t>
            </a:r>
            <a:endParaRPr lang="en-US" altLang="ko-KR" dirty="0"/>
          </a:p>
          <a:p>
            <a:pPr lvl="3"/>
            <a:r>
              <a:rPr lang="en-US" altLang="ko-KR" dirty="0"/>
              <a:t>Prompt</a:t>
            </a:r>
            <a:r>
              <a:rPr lang="ko-KR" altLang="en-US" dirty="0"/>
              <a:t> 검색 기능</a:t>
            </a:r>
            <a:endParaRPr lang="en-US" altLang="ko-KR" dirty="0"/>
          </a:p>
          <a:p>
            <a:pPr lvl="3"/>
            <a:r>
              <a:rPr lang="en-US" altLang="ko-KR" dirty="0"/>
              <a:t>Prompt </a:t>
            </a:r>
            <a:r>
              <a:rPr lang="ko-KR" altLang="en-US" dirty="0"/>
              <a:t>조합</a:t>
            </a:r>
            <a:r>
              <a:rPr lang="en-US" altLang="ko-KR" dirty="0"/>
              <a:t>/</a:t>
            </a:r>
            <a:r>
              <a:rPr lang="ko-KR" altLang="en-US" dirty="0"/>
              <a:t>합성 기능</a:t>
            </a:r>
            <a:endParaRPr lang="en-US" altLang="ko-KR" dirty="0"/>
          </a:p>
          <a:p>
            <a:pPr lvl="3"/>
            <a:r>
              <a:rPr lang="en-US" altLang="ko-KR" dirty="0"/>
              <a:t>Prompt </a:t>
            </a:r>
            <a:r>
              <a:rPr lang="ko-KR" altLang="en-US" dirty="0"/>
              <a:t>상속 기능</a:t>
            </a:r>
            <a:endParaRPr lang="en-US" altLang="ko-KR" dirty="0"/>
          </a:p>
          <a:p>
            <a:pPr lvl="3"/>
            <a:r>
              <a:rPr lang="en-US" altLang="ko-KR" dirty="0"/>
              <a:t>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344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E5B04F-2283-42FD-A3B2-DA3509AD1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After Branch </a:t>
            </a:r>
            <a:r>
              <a:rPr lang="ko-KR" altLang="en-US" dirty="0"/>
              <a:t>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710A12-B0AD-4941-913B-B3A12C670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After</a:t>
            </a:r>
            <a:r>
              <a:rPr lang="ko-KR" altLang="en-US" dirty="0"/>
              <a:t> </a:t>
            </a:r>
            <a:r>
              <a:rPr lang="en-US" altLang="ko-KR" dirty="0"/>
              <a:t>Branch</a:t>
            </a:r>
            <a:r>
              <a:rPr lang="ko-KR" altLang="en-US" dirty="0"/>
              <a:t>는</a:t>
            </a:r>
            <a:endParaRPr lang="en-US" altLang="ko-KR" dirty="0"/>
          </a:p>
          <a:p>
            <a:pPr lvl="1"/>
            <a:r>
              <a:rPr lang="en-US" altLang="ko-KR" dirty="0"/>
              <a:t>Strategy Pattern, Prototype Pattern, Memento Pattern, Command Pattern</a:t>
            </a:r>
            <a:r>
              <a:rPr lang="ko-KR" altLang="en-US" dirty="0"/>
              <a:t>이 적용되어 </a:t>
            </a:r>
            <a:r>
              <a:rPr lang="en-US" altLang="ko-KR" dirty="0"/>
              <a:t>High Cohesion, Low Coupling</a:t>
            </a:r>
            <a:r>
              <a:rPr lang="ko-KR" altLang="en-US" dirty="0"/>
              <a:t>으로</a:t>
            </a:r>
            <a:r>
              <a:rPr lang="en-US" altLang="ko-KR" dirty="0"/>
              <a:t> </a:t>
            </a:r>
            <a:r>
              <a:rPr lang="ko-KR" altLang="en-US" dirty="0"/>
              <a:t>프로젝트가 재편성되었다</a:t>
            </a:r>
            <a:r>
              <a:rPr lang="en-US" altLang="ko-KR" dirty="0"/>
              <a:t>. 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66AC7BE-0FE2-46C0-B2C0-05CB16B4A0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269293"/>
              </p:ext>
            </p:extLst>
          </p:nvPr>
        </p:nvGraphicFramePr>
        <p:xfrm>
          <a:off x="1670949" y="3462866"/>
          <a:ext cx="9466678" cy="3252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3339">
                  <a:extLst>
                    <a:ext uri="{9D8B030D-6E8A-4147-A177-3AD203B41FA5}">
                      <a16:colId xmlns:a16="http://schemas.microsoft.com/office/drawing/2014/main" val="3019626987"/>
                    </a:ext>
                  </a:extLst>
                </a:gridCol>
                <a:gridCol w="4733339">
                  <a:extLst>
                    <a:ext uri="{9D8B030D-6E8A-4147-A177-3AD203B41FA5}">
                      <a16:colId xmlns:a16="http://schemas.microsoft.com/office/drawing/2014/main" val="1508954990"/>
                    </a:ext>
                  </a:extLst>
                </a:gridCol>
              </a:tblGrid>
              <a:tr h="4182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Before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After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213304"/>
                  </a:ext>
                </a:extLst>
              </a:tr>
              <a:tr h="25133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PromptManager</a:t>
                      </a:r>
                      <a:r>
                        <a:rPr lang="en-US" altLang="ko-KR" dirty="0"/>
                        <a:t> – Line </a:t>
                      </a:r>
                      <a:r>
                        <a:rPr lang="ko-KR" altLang="en-US" dirty="0"/>
                        <a:t>수 </a:t>
                      </a:r>
                      <a:r>
                        <a:rPr lang="en-US" altLang="ko-KR" dirty="0"/>
                        <a:t>1521</a:t>
                      </a:r>
                      <a:r>
                        <a:rPr lang="ko-KR" altLang="en-US" dirty="0"/>
                        <a:t>줄</a:t>
                      </a:r>
                    </a:p>
                    <a:p>
                      <a:pPr latinLnBrk="1"/>
                      <a:r>
                        <a:rPr lang="en-US" altLang="ko-KR" dirty="0"/>
                        <a:t>  Prompt </a:t>
                      </a:r>
                      <a:r>
                        <a:rPr lang="ko-KR" altLang="en-US" dirty="0"/>
                        <a:t>생성 기능</a:t>
                      </a:r>
                    </a:p>
                    <a:p>
                      <a:pPr latinLnBrk="1"/>
                      <a:r>
                        <a:rPr lang="en-US" altLang="ko-KR" dirty="0"/>
                        <a:t>  Prompt </a:t>
                      </a:r>
                      <a:r>
                        <a:rPr lang="ko-KR" altLang="en-US" dirty="0"/>
                        <a:t>수정 기능</a:t>
                      </a:r>
                    </a:p>
                    <a:p>
                      <a:pPr latinLnBrk="1"/>
                      <a:r>
                        <a:rPr lang="en-US" altLang="ko-KR" dirty="0"/>
                        <a:t>  Prompt </a:t>
                      </a:r>
                      <a:r>
                        <a:rPr lang="ko-KR" altLang="en-US" dirty="0"/>
                        <a:t>삭제 기능</a:t>
                      </a:r>
                    </a:p>
                    <a:p>
                      <a:pPr latinLnBrk="1"/>
                      <a:r>
                        <a:rPr lang="en-US" altLang="ko-KR" dirty="0"/>
                        <a:t>  Prompt </a:t>
                      </a:r>
                      <a:r>
                        <a:rPr lang="ko-KR" altLang="en-US" dirty="0"/>
                        <a:t>검색 기능</a:t>
                      </a:r>
                    </a:p>
                    <a:p>
                      <a:pPr latinLnBrk="1"/>
                      <a:r>
                        <a:rPr lang="en-US" altLang="ko-KR" dirty="0"/>
                        <a:t>  Prompt </a:t>
                      </a:r>
                      <a:r>
                        <a:rPr lang="ko-KR" altLang="en-US" dirty="0"/>
                        <a:t>조합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합성 기능</a:t>
                      </a:r>
                    </a:p>
                    <a:p>
                      <a:pPr latinLnBrk="1"/>
                      <a:r>
                        <a:rPr lang="en-US" altLang="ko-KR" dirty="0"/>
                        <a:t>  Prompt </a:t>
                      </a:r>
                      <a:r>
                        <a:rPr lang="ko-KR" altLang="en-US" dirty="0"/>
                        <a:t>상속 기능</a:t>
                      </a:r>
                    </a:p>
                    <a:p>
                      <a:pPr latinLnBrk="1"/>
                      <a:r>
                        <a:rPr lang="en-US" altLang="ko-KR" dirty="0"/>
                        <a:t> 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PromptManager</a:t>
                      </a:r>
                      <a:r>
                        <a:rPr lang="en-US" altLang="ko-KR" dirty="0"/>
                        <a:t> – Line </a:t>
                      </a:r>
                      <a:r>
                        <a:rPr lang="ko-KR" altLang="en-US" dirty="0"/>
                        <a:t>수 </a:t>
                      </a:r>
                      <a:r>
                        <a:rPr lang="en-US" altLang="ko-KR" dirty="0"/>
                        <a:t>121</a:t>
                      </a:r>
                      <a:r>
                        <a:rPr lang="ko-KR" altLang="en-US" dirty="0"/>
                        <a:t>줄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 Prompt </a:t>
                      </a:r>
                      <a:r>
                        <a:rPr lang="ko-KR" altLang="en-US" dirty="0"/>
                        <a:t>수정 기능</a:t>
                      </a:r>
                    </a:p>
                    <a:p>
                      <a:pPr latinLnBrk="1"/>
                      <a:r>
                        <a:rPr lang="en-US" altLang="ko-KR" dirty="0"/>
                        <a:t>  Prompt </a:t>
                      </a:r>
                      <a:r>
                        <a:rPr lang="ko-KR" altLang="en-US" dirty="0"/>
                        <a:t>삭제 기능</a:t>
                      </a:r>
                    </a:p>
                    <a:p>
                      <a:pPr latinLnBrk="1"/>
                      <a:r>
                        <a:rPr lang="en-US" altLang="ko-KR" dirty="0"/>
                        <a:t>  Prompt </a:t>
                      </a:r>
                      <a:r>
                        <a:rPr lang="ko-KR" altLang="en-US" dirty="0"/>
                        <a:t>검색 기능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PromptGenerator</a:t>
                      </a:r>
                      <a:r>
                        <a:rPr lang="en-US" altLang="ko-KR" dirty="0"/>
                        <a:t> – Line </a:t>
                      </a:r>
                      <a:r>
                        <a:rPr lang="ko-KR" altLang="en-US" dirty="0"/>
                        <a:t>수 </a:t>
                      </a:r>
                      <a:r>
                        <a:rPr lang="en-US" altLang="ko-KR" dirty="0"/>
                        <a:t>220</a:t>
                      </a:r>
                      <a:r>
                        <a:rPr lang="ko-KR" altLang="en-US" dirty="0"/>
                        <a:t>줄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  Prompt </a:t>
                      </a:r>
                      <a:r>
                        <a:rPr lang="ko-KR" altLang="en-US" dirty="0"/>
                        <a:t>생성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PromptComposer</a:t>
                      </a:r>
                      <a:r>
                        <a:rPr lang="en-US" altLang="ko-KR" dirty="0"/>
                        <a:t> – Line </a:t>
                      </a:r>
                      <a:r>
                        <a:rPr lang="ko-KR" altLang="en-US" dirty="0"/>
                        <a:t>수 </a:t>
                      </a:r>
                      <a:r>
                        <a:rPr lang="en-US" altLang="ko-KR" dirty="0"/>
                        <a:t>312</a:t>
                      </a:r>
                      <a:r>
                        <a:rPr lang="ko-KR" altLang="en-US" dirty="0"/>
                        <a:t>줄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  Prompt</a:t>
                      </a:r>
                      <a:r>
                        <a:rPr lang="ko-KR" altLang="en-US" dirty="0"/>
                        <a:t> 상속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  Prompt </a:t>
                      </a:r>
                      <a:r>
                        <a:rPr lang="ko-KR" altLang="en-US" dirty="0"/>
                        <a:t>조합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합성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763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819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EC6FCB-54E0-4904-87F4-A0B1BAAE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840FEB-19FC-4B7D-9A8B-8ECB4423F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501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55B38A-EF09-4661-976E-4C116E131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2EECEB-1975-4175-8665-3B2EBD482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115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606</Words>
  <Application>Microsoft Office PowerPoint</Application>
  <PresentationFormat>와이드스크린</PresentationFormat>
  <Paragraphs>67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PolyPrompt</vt:lpstr>
      <vt:lpstr>프로젝트 설명 (다이어그램 추가 가능)</vt:lpstr>
      <vt:lpstr>프로젝트 요구사항</vt:lpstr>
      <vt:lpstr>프로젝트 기능 소개</vt:lpstr>
      <vt:lpstr>Before Branch 분석</vt:lpstr>
      <vt:lpstr>After Branch 분석</vt:lpstr>
      <vt:lpstr>Code 분석</vt:lpstr>
      <vt:lpstr>시연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PolyPrompt</dc:title>
  <dc:creator>최창범</dc:creator>
  <cp:lastModifiedBy>최창범</cp:lastModifiedBy>
  <cp:revision>2</cp:revision>
  <dcterms:created xsi:type="dcterms:W3CDTF">2025-12-01T05:55:48Z</dcterms:created>
  <dcterms:modified xsi:type="dcterms:W3CDTF">2025-12-01T06:05:12Z</dcterms:modified>
</cp:coreProperties>
</file>